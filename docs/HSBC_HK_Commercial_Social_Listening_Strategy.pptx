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DB0011"/>
                </a:solidFill>
                <a:latin typeface="Arial"/>
              </a:rPr>
              <a:t>HSBC Hong Kong Commercial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1E1E1E"/>
                </a:solidFill>
                <a:latin typeface="Arial"/>
              </a:rPr>
              <a:t>Social Listening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4A4A"/>
                </a:solidFill>
                <a:latin typeface="Arial"/>
              </a:rPr>
              <a:t>商业银行社交聆听战略 · 小红书优先 (Xiaohongshu-first)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757575"/>
                </a:solidFill>
                <a:latin typeface="Arial"/>
              </a:rPr>
              <a:t>From noisy intermediary content to actionable customer voice
for Business Banking, Mid-Market, Large Corporates &amp; Marketing / Technology leaders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7220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Executive strategy deck  ·  September 2026  ·  Confidential — Internal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1722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AAAAAA"/>
                </a:solidFill>
                <a:latin typeface="Arial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1E1E"/>
                </a:solidFill>
                <a:latin typeface="Arial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</a:rPr>
              <a:t>会议议程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02920" cy="41148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8016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1E1E"/>
                </a:solidFill>
                <a:latin typeface="Arial"/>
              </a:rPr>
              <a:t>Why now — market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4520"/>
            <a:ext cx="502920" cy="41148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9202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1E1E"/>
                </a:solidFill>
                <a:latin typeface="Arial"/>
              </a:rPr>
              <a:t>Vision &amp; 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14600"/>
            <a:ext cx="502920" cy="41148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603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1E1E"/>
                </a:solidFill>
                <a:latin typeface="Arial"/>
              </a:rPr>
              <a:t>Business value by persona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54679"/>
            <a:ext cx="502920" cy="41148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00399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200399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1E1E"/>
                </a:solidFill>
                <a:latin typeface="Arial"/>
              </a:rPr>
              <a:t>Listening design principles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94760"/>
            <a:ext cx="502920" cy="41148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404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1E1E"/>
                </a:solidFill>
                <a:latin typeface="Arial"/>
              </a:rPr>
              <a:t>Scope — platforms &amp; keywords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434840"/>
            <a:ext cx="502920" cy="41148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80560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48056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1E1E"/>
                </a:solidFill>
                <a:latin typeface="Arial"/>
              </a:rPr>
              <a:t>Persona dashboard suite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074919"/>
            <a:ext cx="502920" cy="41148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20639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120639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1E1E"/>
                </a:solidFill>
                <a:latin typeface="Arial"/>
              </a:rPr>
              <a:t>Page-1 analytics design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234440"/>
            <a:ext cx="502920" cy="411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280160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DB0011"/>
                </a:solidFill>
                <a:latin typeface="Arial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128016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1E1E"/>
                </a:solidFill>
                <a:latin typeface="Arial"/>
              </a:rPr>
              <a:t>Proposed data architecture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874520"/>
            <a:ext cx="502920" cy="411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920240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DB0011"/>
                </a:solidFill>
                <a:latin typeface="Arial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19202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1E1E"/>
                </a:solidFill>
                <a:latin typeface="Arial"/>
              </a:rPr>
              <a:t>Architecture detail &amp; compliance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514600"/>
            <a:ext cx="502920" cy="411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560320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DB0011"/>
                </a:solidFill>
                <a:latin typeface="Arial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25603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1E1E"/>
                </a:solidFill>
                <a:latin typeface="Arial"/>
              </a:rPr>
              <a:t>Operating model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154679"/>
            <a:ext cx="502920" cy="411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200399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DB0011"/>
                </a:solidFill>
                <a:latin typeface="Arial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3200399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1E1E"/>
                </a:solidFill>
                <a:latin typeface="Arial"/>
              </a:rPr>
              <a:t>90-day roadmap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794760"/>
            <a:ext cx="502920" cy="411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840480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DB0011"/>
                </a:solidFill>
                <a:latin typeface="Arial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38404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1E1E"/>
                </a:solidFill>
                <a:latin typeface="Arial"/>
              </a:rPr>
              <a:t>Investment &amp; options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4434840"/>
            <a:ext cx="502920" cy="411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480560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DB0011"/>
                </a:solidFill>
                <a:latin typeface="Arial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448056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1E1E"/>
                </a:solidFill>
                <a:latin typeface="Arial"/>
              </a:rPr>
              <a:t>Risks &amp; mitigations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5074919"/>
            <a:ext cx="502920" cy="411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5120639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DB0011"/>
                </a:solidFill>
                <a:latin typeface="Arial"/>
              </a:rPr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600" y="5120639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1E1E"/>
                </a:solidFill>
                <a:latin typeface="Arial"/>
              </a:rPr>
              <a:t>Ask / next steps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HSBC Hong Kong Commercial Banking  ·  Social Listening Strategy  ·  Confidential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1E1E"/>
                </a:solidFill>
                <a:latin typeface="Arial"/>
              </a:rPr>
              <a:t>Why now — Market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</a:rPr>
              <a:t>为什么现在 · 市场背景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9728" cy="224028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Chinese social is where
SME / founders talk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49377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小红书 (Xiaohongshu) has become a primary discovery &amp; experience channel for HK company setup, banking, and cross-border ops — yet commercial banking voice is thin vs consumer noise.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109728" cy="224028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41732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Commercial voice gap
vs Personal One noise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48840"/>
            <a:ext cx="49377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Public search is dominated by HSBC One / retail onboarding stories. True Business Banking / 公司户 signals are sparse and easily drowned out without dedicated filters.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109728" cy="224028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Intermediary pollution
(中介 / 企服)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17720"/>
            <a:ext cx="49377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Company secretary, 代办, and one-stop 企服 posts flood brand keywords. Without cleaning, leadership dashboards misread marketing acquisition as customer experience.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65760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657600"/>
            <a:ext cx="109728" cy="224028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88620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Decision urgency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617720"/>
            <a:ext cx="49377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PoC sample (Just One pull) already shows pain points in documents, appointment, RM continuity, and fee thresholds — actionable for Head / BB / CMO if we industrialise listening.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HSBC Hong Kong Commercial Banking  ·  Social Listening Strategy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1E1E"/>
                </a:solidFill>
                <a:latin typeface="Arial"/>
              </a:rPr>
              <a:t>Vision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</a:rPr>
              <a:t>愿景与目标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F8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DB0011"/>
                </a:solidFill>
                <a:latin typeface="Arial"/>
              </a:rPr>
              <a:t>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107899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Give Commercial Banking leaders a trusted, weekly view of real customer voice on Chinese social — filtered from intermediary and retail noise — so product, service, and brand decisions rest on evidence, not anecdotes.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80160" y="2926080"/>
            <a:ext cx="1097280" cy="50292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99923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Listen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23774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A4A4A"/>
                </a:solidFill>
                <a:latin typeface="Arial"/>
              </a:rPr>
              <a:t>Capture commercial-relevant posts on 小红书 first, with expandable platform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69748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0" y="2926080"/>
            <a:ext cx="1097280" cy="50292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99923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657600"/>
            <a:ext cx="23774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A4A4A"/>
                </a:solidFill>
                <a:latin typeface="Arial"/>
              </a:rPr>
              <a:t>Systematically exclude 中介 / 企服 / personal One noise; report KPIs on cleaned corpus.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69748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0" y="2926080"/>
            <a:ext cx="1097280" cy="50292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299923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57600"/>
            <a:ext cx="23774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A4A4A"/>
                </a:solidFill>
                <a:latin typeface="Arial"/>
              </a:rPr>
              <a:t>Theme, sentiment, competitor SOV, and persona-specific insight for each stakeholder.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69748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58400" y="2926080"/>
            <a:ext cx="1097280" cy="50292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299923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657600"/>
            <a:ext cx="23774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A4A4A"/>
                </a:solidFill>
                <a:latin typeface="Arial"/>
              </a:rPr>
              <a:t>Weekly operating cadence + escalation so insights reach Head / BB / CMO / CTO owners.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HSBC Hong Kong Commercial Banking  ·  Social Listening Strategy  ·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1E1E"/>
                </a:solidFill>
                <a:latin typeface="Arial"/>
              </a:rPr>
              <a:t>Business value by 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</a:rPr>
              <a:t>各角色业务价值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Head of CB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32918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4A4A"/>
                </a:solidFill>
                <a:latin typeface="Arial"/>
              </a:rPr>
              <a:t>Portfolio risk &amp; opportunity radar; cleaned Net Voice; weekly brief for leadership forums.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3657600" cy="4572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Business Banking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74520"/>
            <a:ext cx="32918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4A4A"/>
                </a:solidFill>
                <a:latin typeface="Arial"/>
              </a:rPr>
              <a:t>Onboarding journey friction (materials, appointment, RM handoff); SME acquisition narrative.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8872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88720"/>
            <a:ext cx="3657600" cy="4572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2801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Mid-Market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74520"/>
            <a:ext cx="32918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4A4A"/>
                </a:solidFill>
                <a:latin typeface="Arial"/>
              </a:rPr>
              <a:t>Fee / threshold perception; trade &amp; FX discussion themes; win/loss vs peers.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576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3657600" cy="4572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4904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Large Corporate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32918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4A4A"/>
                </a:solidFill>
                <a:latin typeface="Arial"/>
              </a:rPr>
              <a:t>RM continuity &amp; trust signals; complex product depth (trade finance, cross-border).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6576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657600"/>
            <a:ext cx="3657600" cy="4572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74904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CMO / Brand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343400"/>
            <a:ext cx="32918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4A4A"/>
                </a:solidFill>
                <a:latin typeface="Arial"/>
              </a:rPr>
              <a:t>Share of voice vs 渣打 / 中银 / 恒生; content gaps; campaign early-warning.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6576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657600"/>
            <a:ext cx="3657600" cy="4572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74904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CTO / Digital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343400"/>
            <a:ext cx="32918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4A4A"/>
                </a:solidFill>
                <a:latin typeface="Arial"/>
              </a:rPr>
              <a:t>Data pipeline health; API/vendor options; dashboard fidelity &amp; compliance controls.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HSBC Hong Kong Commercial Banking  ·  Social Listening Strategy  ·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1E1E"/>
                </a:solidFill>
                <a:latin typeface="Arial"/>
              </a:rPr>
              <a:t>Listening 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</a:rPr>
              <a:t>聆听设计原则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B0011"/>
                </a:solidFill>
                <a:latin typeface="Arial"/>
              </a:rPr>
              <a:t>1. Customer voice ≠ intermediary noise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5212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Default filters: hide 中介 / 公司秘书 / 企服 / 代办. Leadership KPIs always use cleaned corpus. Raw volume tracked separately for transparency.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32588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B0011"/>
                </a:solidFill>
                <a:latin typeface="Arial"/>
              </a:rPr>
              <a:t>2. Page-1 for decisions; detail for drill-down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37360"/>
            <a:ext cx="5212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Page 1 = executive analytics (KPI, sentiment, themes, SOV). Page 2 = post table &amp; evidence. Page 3 = methodology. Never bury the ask.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B0011"/>
                </a:solidFill>
                <a:latin typeface="Arial"/>
              </a:rPr>
              <a:t>3. Commercial relevance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29000"/>
            <a:ext cx="5212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Prioritise 公司户 / Business Banking / trade / FX / 企业网银. Park personal One / retail as a noise bucket, not the headline.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83464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01752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B0011"/>
                </a:solidFill>
                <a:latin typeface="Arial"/>
              </a:rPr>
              <a:t>4. Honest data labelling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429000"/>
            <a:ext cx="5212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Mark sample vs production, vendor export vs API PoC, illustrative SOV. Do not invent 小红书 deep links; retain real note IDs 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2628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0916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B0011"/>
                </a:solidFill>
                <a:latin typeface="Arial"/>
              </a:rPr>
              <a:t>5. Persona-tuned emphasis, shared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120640"/>
            <a:ext cx="5212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Six dashboards, one data engine — different emphasis per Head / BB / Mid / Large / CMO / CTO, consistent definitions.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52628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70916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B0011"/>
                </a:solidFill>
                <a:latin typeface="Arial"/>
              </a:rPr>
              <a:t>6. Compliance by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120640"/>
            <a:ext cx="5212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Minimise PII in dashboards; respect platform ToS &amp; PIPL; HK usage of Mainland social data needs explicit vendor &amp; legal review.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HSBC Hong Kong Commercial Banking  ·  Social Listening Strategy  ·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1E1E"/>
                </a:solidFill>
                <a:latin typeface="Arial"/>
              </a:rPr>
              <a:t>Scope — platforms, keywords, exclude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</a:rPr>
              <a:t>范围 · 平台 / 关键词 / 排除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B0011"/>
                </a:solidFill>
                <a:latin typeface="Arial"/>
              </a:rPr>
              <a:t>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A4A"/>
                </a:solidFill>
                <a:latin typeface="Arial"/>
              </a:rPr>
              <a:t>•  Phase 1: 小红书 (Xiaohongshu) — primary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A4A"/>
                </a:solidFill>
                <a:latin typeface="Arial"/>
              </a:rPr>
              <a:t>•  Phase 2 (optional): WeChat public / Douyin B2B signals if vendor supports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A4A"/>
                </a:solidFill>
                <a:latin typeface="Arial"/>
              </a:rPr>
              <a:t>•  Out of scope for PoC: LinkedIn, Reddit, English-only forums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A4A"/>
                </a:solidFill>
                <a:latin typeface="Arial"/>
              </a:rPr>
              <a:t>•  Focus: HK commercial banking journey discussed on Mainland/Chinese social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43000"/>
            <a:ext cx="3840480" cy="493776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8016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B0011"/>
                </a:solidFill>
                <a:latin typeface="Arial"/>
              </a:rPr>
              <a:t>Keyword packs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A4A"/>
                </a:solidFill>
                <a:latin typeface="Arial"/>
              </a:rPr>
              <a:t>•  Brand: 汇丰银行香港, HSBC Business, 公司户, 商业理财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A4A"/>
                </a:solidFill>
                <a:latin typeface="Arial"/>
              </a:rPr>
              <a:t>•  Products: 贸易融资, 信用证, 跨境收款, 企业网银, Business App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A4A"/>
                </a:solidFill>
                <a:latin typeface="Arial"/>
              </a:rPr>
              <a:t>•  Journey: 开公司户, 开公戶, 中小企账户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A4A"/>
                </a:solidFill>
                <a:latin typeface="Arial"/>
              </a:rPr>
              <a:t>•  Competitors: 渣打 / 中银香港 / 恒生 / 虚拟银行 公司户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A4A"/>
                </a:solidFill>
                <a:latin typeface="Arial"/>
              </a:rPr>
              <a:t>•  Boolean: (汇丰|HSBC) AND (公司户|Business|贸易…) NOT (代办|企服|One)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143000"/>
            <a:ext cx="3383280" cy="4937760"/>
          </a:xfrm>
          <a:prstGeom prst="roundRect">
            <a:avLst>
              <a:gd name="adj" fmla="val 8000"/>
            </a:avLst>
          </a:prstGeom>
          <a:solidFill>
            <a:srgbClr val="F8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280160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B0011"/>
                </a:solidFill>
                <a:latin typeface="Arial"/>
              </a:rPr>
              <a:t>Exclude / down-weight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A4A"/>
                </a:solidFill>
                <a:latin typeface="Arial"/>
              </a:rPr>
              <a:t>•  代办 / 包过 / 中介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A4A"/>
                </a:solidFill>
                <a:latin typeface="Arial"/>
              </a:rPr>
              <a:t>•  公司秘书 / 企服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A4A"/>
                </a:solidFill>
                <a:latin typeface="Arial"/>
              </a:rPr>
              <a:t>•  一站式开公司 promo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A4A"/>
                </a:solidFill>
                <a:latin typeface="Arial"/>
              </a:rPr>
              <a:t>•  汇丰One / 红狮子 retail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A4A"/>
                </a:solidFill>
                <a:latin typeface="Arial"/>
              </a:rPr>
              <a:t>•  转会开户 (personal noise)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A4A"/>
                </a:solidFill>
                <a:latin typeface="Arial"/>
              </a:rPr>
              <a:t>•  Keep as separate bucket for QA — never in Page-1 KPIs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HSBC Hong Kong Commercial Banking  ·  Social Listening Strategy  ·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1E1E"/>
                </a:solidFill>
                <a:latin typeface="Arial"/>
              </a:rPr>
              <a:t>Persona dashboard suite (6 versions)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</a:rPr>
              <a:t>六套角色看板概览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</a:rPr>
              <a:t>Shared engine · persona emphasis  ·  Each board: Page 1 Overview | Page 2 Detail | Page 3 Method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109728" cy="20574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DB0011"/>
                </a:solidFill>
                <a:latin typeface="Arial"/>
              </a:rPr>
              <a:t>head.html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31089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Cleaned Net Voice, top risks / opportunities, recommended 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554480"/>
            <a:ext cx="109728" cy="20574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7830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Business Banking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14884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DB0011"/>
                </a:solidFill>
                <a:latin typeface="Arial"/>
              </a:rPr>
              <a:t>business-banking.html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560320"/>
            <a:ext cx="31089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Onboarding themes, SME friction, RM service continuity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55448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554480"/>
            <a:ext cx="109728" cy="20574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7830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SME / Mid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14884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DB0011"/>
                </a:solidFill>
                <a:latin typeface="Arial"/>
              </a:rPr>
              <a:t>sme-mid.html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560320"/>
            <a:ext cx="31089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Fee &amp; threshold perception, mid-market journey pain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4048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840480"/>
            <a:ext cx="109728" cy="20574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0690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Large Corp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3484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DB0011"/>
                </a:solidFill>
                <a:latin typeface="Arial"/>
              </a:rPr>
              <a:t>large-corp.html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46320"/>
            <a:ext cx="31089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Complex product depth, trust &amp; RM quality signals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84048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3840480"/>
            <a:ext cx="109728" cy="20574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40690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CMO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43484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DB0011"/>
                </a:solidFill>
                <a:latin typeface="Arial"/>
              </a:rPr>
              <a:t>cmo.html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846320"/>
            <a:ext cx="31089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SOV, competitor narrative, content / campaign gaps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84048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3840480"/>
            <a:ext cx="109728" cy="20574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40690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CTO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443484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DB0011"/>
                </a:solidFill>
                <a:latin typeface="Arial"/>
              </a:rPr>
              <a:t>cto.html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846320"/>
            <a:ext cx="31089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Pipeline health, source status, compliance &amp; data quality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HSBC Hong Kong Commercial Banking  ·  Social Listening Strategy  · 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1E1E"/>
                </a:solidFill>
                <a:latin typeface="Arial"/>
              </a:rPr>
              <a:t>Page-1 analytics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</a:rPr>
              <a:t>管理层第 1 页 · 分析设计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B0011"/>
                </a:solidFill>
                <a:latin typeface="Arial"/>
              </a:rPr>
              <a:t>Net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Clean posts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14300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28016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B0011"/>
                </a:solidFill>
                <a:latin typeface="Arial"/>
              </a:rPr>
              <a:t>Sentiment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69164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+ / − / Neu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4300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28016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B0011"/>
                </a:solidFill>
                <a:latin typeface="Arial"/>
              </a:rPr>
              <a:t>Themes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9164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Top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14300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28016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B0011"/>
                </a:solidFill>
                <a:latin typeface="Arial"/>
              </a:rPr>
              <a:t>SOV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69164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vs peers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468880"/>
            <a:ext cx="56235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9748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KPI strip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108960"/>
            <a:ext cx="5212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Total / cleaned posts, % intermediary filtered, commercial-related rate, week-over-week delta.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468880"/>
            <a:ext cx="56235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69748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Sentiment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108960"/>
            <a:ext cx="5212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Positive / Neutral / Negative on cleaned set; sparkline trend; alert if negative spike &gt; threshold.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97680"/>
            <a:ext cx="56235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52628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Word cloud / themes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937760"/>
            <a:ext cx="5212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开户体验, 费用门槛, 客户经理, 数字银行, 贸易融资外汇, 竞品对比 — click-through to posts.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297680"/>
            <a:ext cx="56235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52628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Competitor SOV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937760"/>
            <a:ext cx="5212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Illustrative share vs 渣打 / 中银 / 恒生 / virtual banks — clearly labelled until production vendor feed.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HSBC Hong Kong Commercial Banking  ·  Social Listening Strategy  ·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1E1E"/>
                </a:solidFill>
                <a:latin typeface="Arial"/>
              </a:rPr>
              <a:t>Proposed data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</a:rPr>
              <a:t>建议数据架构 · Sources → Dashboard /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828800" cy="128016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1645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1645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EEEEEE"/>
                </a:solidFill>
                <a:latin typeface="Arial"/>
              </a:rPr>
              <a:t>小红书 notes
&amp; engagement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77440" y="2286000"/>
            <a:ext cx="365760" cy="32004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4640" y="1828800"/>
            <a:ext cx="1828800" cy="128016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011680"/>
            <a:ext cx="1645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Collect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514600"/>
            <a:ext cx="1645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EEEEEE"/>
                </a:solidFill>
                <a:latin typeface="Arial"/>
              </a:rPr>
              <a:t>Just One API
千瓜 · 新红 export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09160" y="2286000"/>
            <a:ext cx="365760" cy="32004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66360" y="1828800"/>
            <a:ext cx="1828800" cy="128016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011680"/>
            <a:ext cx="1645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Clean /
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514600"/>
            <a:ext cx="1645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EEEEEE"/>
                </a:solidFill>
                <a:latin typeface="Arial"/>
              </a:rPr>
              <a:t>Exclude 中介
Theme · Sentiment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40880" y="2286000"/>
            <a:ext cx="365760" cy="32004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80" y="1828800"/>
            <a:ext cx="1828800" cy="128016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2011680"/>
            <a:ext cx="1645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514600"/>
            <a:ext cx="1645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EEEEEE"/>
                </a:solidFill>
                <a:latin typeface="Arial"/>
              </a:rPr>
              <a:t>data.json /
warehouse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72600" y="2286000"/>
            <a:ext cx="365760" cy="32004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29800" y="1828800"/>
            <a:ext cx="1828800" cy="128016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2011680"/>
            <a:ext cx="1645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Dashboard
&amp;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514600"/>
            <a:ext cx="1645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EEEEEE"/>
                </a:solidFill>
                <a:latin typeface="Arial"/>
              </a:rPr>
              <a:t>6 persona boards
Weekly brief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47472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611880"/>
            <a:ext cx="2011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>
                <a:solidFill>
                  <a:srgbClr val="DB0011"/>
                </a:solidFill>
                <a:latin typeface="Arial"/>
              </a:rPr>
              <a:t>PoC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611880"/>
            <a:ext cx="8686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Just One search-note/v2 → local clean → HTML dashboards (already proven with ~70 live posts).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43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80560"/>
            <a:ext cx="2011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>
                <a:solidFill>
                  <a:srgbClr val="DB0011"/>
                </a:solidFill>
                <a:latin typeface="Arial"/>
              </a:rPr>
              <a:t>Production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480560"/>
            <a:ext cx="8686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Enterprise vendor (千瓜 / 新红) scheduled export or API → same clean/classify → governed store → dashboards + Slack/email alerts.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21208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349240"/>
            <a:ext cx="2011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>
                <a:solidFill>
                  <a:srgbClr val="DB0011"/>
                </a:solidFill>
                <a:latin typeface="Arial"/>
              </a:rPr>
              <a:t>Design rule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349240"/>
            <a:ext cx="8686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One cleaned definition of Net Voice across all personas; source_status labels (vendor_export / api_poc / placeholder) always visible.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HSBC Hong Kong Commercial Banking  ·  Social Listening Strategy  · 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1E1E"/>
                </a:solidFill>
                <a:latin typeface="Arial"/>
              </a:rPr>
              <a:t>Data architecture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</a:rPr>
              <a:t>架构分层 · PII / 合规 · 占位 vs 生产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Ingest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14300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280160"/>
            <a:ext cx="44805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4A4A4A"/>
                </a:solidFill>
                <a:latin typeface="Arial"/>
              </a:rPr>
              <a:t>Keyword tasks, Boolean packs, scheduled pulls / exports from Just One or 千瓜·新红.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8483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192024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057400"/>
            <a:ext cx="44805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4A4A4A"/>
                </a:solidFill>
                <a:latin typeface="Arial"/>
              </a:rPr>
              <a:t>Deduplicate note IDs; author_type tagging; intermediary &amp; personal-noise flags; theme &amp; sentiment.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9748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6207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Serve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269748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2834640"/>
            <a:ext cx="44805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4A4A4A"/>
                </a:solidFill>
                <a:latin typeface="Arial"/>
              </a:rPr>
              <a:t>Curated JSON / warehouse views for 6 dashboards; management_summary generation; alert rules.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7472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3931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Govern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347472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3611880"/>
            <a:ext cx="44805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4A4A4A"/>
                </a:solidFill>
                <a:latin typeface="Arial"/>
              </a:rPr>
              <a:t>Access control, retention, audit of source_status; no fabricated external links.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143000"/>
            <a:ext cx="4206240" cy="3108960"/>
          </a:xfrm>
          <a:prstGeom prst="roundRect">
            <a:avLst>
              <a:gd name="adj" fmla="val 8000"/>
            </a:avLst>
          </a:prstGeom>
          <a:solidFill>
            <a:srgbClr val="F8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1280160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B0011"/>
                </a:solidFill>
                <a:latin typeface="Arial"/>
              </a:rPr>
              <a:t>PII &amp; compliance notes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173736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A4A4A"/>
                </a:solidFill>
                <a:latin typeface="Arial"/>
              </a:rPr>
              <a:t>•  Store note ID, not personal contact data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A4A4A"/>
                </a:solidFill>
                <a:latin typeface="Arial"/>
              </a:rPr>
              <a:t>•  Mask author handles in exec exports if needed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A4A4A"/>
                </a:solidFill>
                <a:latin typeface="Arial"/>
              </a:rPr>
              <a:t>•  PIPL + HK PDPO review for cross-border social data use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A4A4A"/>
                </a:solidFill>
                <a:latin typeface="Arial"/>
              </a:rPr>
              <a:t>•  Vendor ToS &amp; bank procurement mandatory before production scale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A4A4A"/>
                </a:solidFill>
                <a:latin typeface="Arial"/>
              </a:rPr>
              <a:t>•  Third-party API ≠ official platform authorisation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4434840"/>
            <a:ext cx="4206240" cy="1554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4572000"/>
            <a:ext cx="3840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E1E"/>
                </a:solidFill>
                <a:latin typeface="Arial"/>
              </a:rPr>
              <a:t>Placeholder vs production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9377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A4A4A"/>
                </a:solidFill>
                <a:latin typeface="Arial"/>
              </a:rPr>
              <a:t>•  PoC: mix of live pull + labelled placeholders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A4A4A"/>
                </a:solidFill>
                <a:latin typeface="Arial"/>
              </a:rPr>
              <a:t>•  Production: vendor_export only; SOV no longer 'illustrative'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434840"/>
            <a:ext cx="67665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Layer contracts: every record carries platform, note_id, published_at, commercial_related, author_type, sentiment, themes, source_status. Dashboards never invent deep links; competitor SOV remains labelled illustrative until multi-brand vendor coverage is live.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HSBC Hong Kong Commercial Banking  ·  Social Listening Strategy  ·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1E1E"/>
                </a:solidFill>
                <a:latin typeface="Arial"/>
              </a:rPr>
              <a:t>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</a:rPr>
              <a:t>运营模式 · 周节奏 / 角色 / 升级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B0011"/>
                </a:solidFill>
                <a:latin typeface="Arial"/>
              </a:rPr>
              <a:t>Weekly cadence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2103120" cy="36576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2103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19202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4A4A4A"/>
                </a:solidFill>
                <a:latin typeface="Arial"/>
              </a:rPr>
              <a:t>Pull / export
&amp; ingest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46304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463040"/>
            <a:ext cx="2103120" cy="36576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508760"/>
            <a:ext cx="2103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011680"/>
            <a:ext cx="19202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4A4A4A"/>
                </a:solidFill>
                <a:latin typeface="Arial"/>
              </a:rPr>
              <a:t>Clean QA
&amp; classify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46304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463040"/>
            <a:ext cx="2103120" cy="36576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508760"/>
            <a:ext cx="2103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011680"/>
            <a:ext cx="19202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4A4A4A"/>
                </a:solidFill>
                <a:latin typeface="Arial"/>
              </a:rPr>
              <a:t>Refresh
dashboards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46304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1463040"/>
            <a:ext cx="2103120" cy="36576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508760"/>
            <a:ext cx="2103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Thu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011680"/>
            <a:ext cx="19202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4A4A4A"/>
                </a:solidFill>
                <a:latin typeface="Arial"/>
              </a:rPr>
              <a:t>Persona
briefs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46304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463040"/>
            <a:ext cx="2103120" cy="36576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1508760"/>
            <a:ext cx="2103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Fri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011680"/>
            <a:ext cx="19202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4A4A4A"/>
                </a:solidFill>
                <a:latin typeface="Arial"/>
              </a:rPr>
              <a:t>Escalation
&amp;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1089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B0011"/>
                </a:solidFill>
                <a:latin typeface="Arial"/>
              </a:rPr>
              <a:t>Roles &amp; escalation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474720"/>
            <a:ext cx="112471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E1E1E"/>
                </a:solidFill>
                <a:latin typeface="Arial"/>
              </a:rPr>
              <a:t>Listening analyst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547872"/>
            <a:ext cx="795527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Ingest, filter QA, theme tagging, weekly pack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77640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050792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E1E1E"/>
                </a:solidFill>
                <a:latin typeface="Arial"/>
              </a:rPr>
              <a:t>BB / Segment owner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050792"/>
            <a:ext cx="795527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Validate journey insights; own service actions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553712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E1E1E"/>
                </a:solidFill>
                <a:latin typeface="Arial"/>
              </a:rPr>
              <a:t>CMO delegate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553712"/>
            <a:ext cx="795527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Brand / SOV narrative; content response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983480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056632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E1E1E"/>
                </a:solidFill>
                <a:latin typeface="Arial"/>
              </a:rPr>
              <a:t>CTO /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056632"/>
            <a:ext cx="795527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Pipeline, vendor SLA, compliance controls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559552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E1E1E"/>
                </a:solidFill>
                <a:latin typeface="Arial"/>
              </a:rPr>
              <a:t>Head of CB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5559552"/>
            <a:ext cx="795527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Reviews cleaned brief; prioritises cross-segment risks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HSBC Hong Kong Commercial Banking  ·  Social Listening Strategy  · 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1E1E"/>
                </a:solidFill>
                <a:latin typeface="Arial"/>
              </a:rPr>
              <a:t>90-day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</a:rPr>
              <a:t>九十天路线图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657600" cy="9144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Days 1–30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Stabilise PoC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A4A"/>
                </a:solidFill>
                <a:latin typeface="Arial"/>
              </a:rPr>
              <a:t>•  Lock keyword + exclude packs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A4A"/>
                </a:solidFill>
                <a:latin typeface="Arial"/>
              </a:rPr>
              <a:t>•  Formalise clean KPI definitions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A4A"/>
                </a:solidFill>
                <a:latin typeface="Arial"/>
              </a:rPr>
              <a:t>•  Persona board UX polish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A4A"/>
                </a:solidFill>
                <a:latin typeface="Arial"/>
              </a:rPr>
              <a:t>•  Legal / ToS preliminary review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A4A"/>
                </a:solidFill>
                <a:latin typeface="Arial"/>
              </a:rPr>
              <a:t>•  Vendor RFI to 千瓜 &amp; 新红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8872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188720"/>
            <a:ext cx="3657600" cy="9144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2801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Days 31–60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60020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Vendor PoC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3317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A4A"/>
                </a:solidFill>
                <a:latin typeface="Arial"/>
              </a:rPr>
              <a:t>•  2-week dual-vendor trial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A4A"/>
                </a:solidFill>
                <a:latin typeface="Arial"/>
              </a:rPr>
              <a:t>•  Map export → data.json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A4A"/>
                </a:solidFill>
                <a:latin typeface="Arial"/>
              </a:rPr>
              <a:t>•  ≥30 commercial-related notes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A4A"/>
                </a:solidFill>
                <a:latin typeface="Arial"/>
              </a:rPr>
              <a:t>•  Intermediary % benchmark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A4A"/>
                </a:solidFill>
                <a:latin typeface="Arial"/>
              </a:rPr>
              <a:t>•  Alert rule prototypes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18872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3657600" cy="9144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2801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Days 61–90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60020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Operationalise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3317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A4A"/>
                </a:solidFill>
                <a:latin typeface="Arial"/>
              </a:rPr>
              <a:t>•  Select production path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A4A"/>
                </a:solidFill>
                <a:latin typeface="Arial"/>
              </a:rPr>
              <a:t>•  Weekly operating rhythm live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A4A"/>
                </a:solidFill>
                <a:latin typeface="Arial"/>
              </a:rPr>
              <a:t>•  Head + CMO pilot briefings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A4A"/>
                </a:solidFill>
                <a:latin typeface="Arial"/>
              </a:rPr>
              <a:t>•  SOV methodology freeze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A4A"/>
                </a:solidFill>
                <a:latin typeface="Arial"/>
              </a:rPr>
              <a:t>•  Decision: scale / pause /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HSBC Hong Kong Commercial Banking  ·  Social Listening Strategy  ·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1E1E"/>
                </a:solidFill>
                <a:latin typeface="Arial"/>
              </a:rPr>
              <a:t>Investment &amp;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</a:rPr>
              <a:t>投入与方案选择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A. Enterprise vendors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757575"/>
                </a:solidFill>
                <a:latin typeface="Arial"/>
              </a:rPr>
              <a:t>千瓜 / 新红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3291840" cy="374903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4A4A"/>
                </a:solidFill>
                <a:latin typeface="Arial"/>
              </a:rPr>
              <a:t>Keyword monitoring, export/API, brand &amp; competitor coverage. Best for production Net Voice &amp; SOV.
Indicative market chatter: ~¥1–5万/yr package tiers (not bank-grade quote). Expect uplift for seats, export volume, finance clients.
Pros: coverage, compliance narrative, support.
Cons: cost, procurement lead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4300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28016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B. API PoC continue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757575"/>
                </a:solidFill>
                <a:latin typeface="Arial"/>
              </a:rPr>
              <a:t>Just One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03120"/>
            <a:ext cx="3291840" cy="374903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4A4A"/>
                </a:solidFill>
                <a:latin typeface="Arial"/>
              </a:rPr>
              <a:t>Extend current search-note/v2 pull for learning &amp; dashboard iteration.
Pros: fast, already integrated, low cash outlay.
Cons: ToS / authorisation risk; not a production source of truth; sample bias.
Use only as bridge while vendor PoC runs — label all outputs api_poc.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F8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28016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B0011"/>
                </a:solidFill>
                <a:latin typeface="Arial"/>
              </a:rPr>
              <a:t>C. Hybrid (recommended)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69164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757575"/>
                </a:solidFill>
                <a:latin typeface="Arial"/>
              </a:rPr>
              <a:t>Bridge →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3291840" cy="374903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4A4A"/>
                </a:solidFill>
                <a:latin typeface="Arial"/>
              </a:rPr>
              <a:t>Keep PoC dashboards + clean logic; run 2-week dual vendor trial; pick one production feed; retire unofficial API for exec reporting.
Budget ask: vendor trial + analyst time (0.3–0.5 FTE) + light engineering for ETL.
Success: cleaned weekly brief trusted by Head / CMO within 90 days.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HSBC Hong Kong Commercial Banking  ·  Social Listening Strategy  ·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1E1E"/>
                </a:solidFill>
                <a:latin typeface="Arial"/>
              </a:rPr>
              <a:t>Risks &amp;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</a:rPr>
              <a:t>风险与缓解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18872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18872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Issue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18872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Mitigation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1124712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9164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1E1E1E"/>
                </a:solidFill>
                <a:latin typeface="Arial"/>
              </a:rPr>
              <a:t>Platform ToS / unofficial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73736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DB0011"/>
                </a:solidFill>
                <a:latin typeface="Arial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645920"/>
            <a:ext cx="3291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Third-party scrapers or unauthorised APIs may breach platform terms and bank policy.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645920"/>
            <a:ext cx="37490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Prefer licensed enterprise vendors; quarantine Just One to labelled PoC; legal review before scale.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42316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1E1E1E"/>
                </a:solidFill>
                <a:latin typeface="Arial"/>
              </a:rPr>
              <a:t>PIPL / PDPO / cross-border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46888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DB0011"/>
                </a:solidFill>
                <a:latin typeface="Arial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377440"/>
            <a:ext cx="3291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Using Mainland social content in HK raises personal-data and transfer questions.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377440"/>
            <a:ext cx="37490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Minimise PII; vendor DPAs; Legal &amp; Privacy sign-off; retention limits.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17520"/>
            <a:ext cx="1124712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15468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1E1E1E"/>
                </a:solidFill>
                <a:latin typeface="Arial"/>
              </a:rPr>
              <a:t>Sample bias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2004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757575"/>
                </a:solidFill>
                <a:latin typeface="Arial"/>
              </a:rPr>
              <a:t>Med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108960"/>
            <a:ext cx="3291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Commercial voice on 小红书 is thin; loud posts ≠ representative customers.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108960"/>
            <a:ext cx="37490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Report base sizes; triangulate with CRM / NPS; avoid over-claiming.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49040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88620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1E1E1E"/>
                </a:solidFill>
                <a:latin typeface="Arial"/>
              </a:rPr>
              <a:t>Intermediary pollution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93192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DB0011"/>
                </a:solidFill>
                <a:latin typeface="Arial"/>
              </a:rP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840480"/>
            <a:ext cx="3291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中介 / 企服 content inflates volume and distorts sentiment if unfiltered.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840480"/>
            <a:ext cx="37490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Default hide; maintain exclude lexicon; spot-check weekly false negatives.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480560"/>
            <a:ext cx="1124712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61772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1E1E1E"/>
                </a:solidFill>
                <a:latin typeface="Arial"/>
              </a:rPr>
              <a:t>Over-reliance on SOV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66344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757575"/>
                </a:solidFill>
                <a:latin typeface="Arial"/>
              </a:rPr>
              <a:t>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572000"/>
            <a:ext cx="3291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Illustrative competitor share can be misread as market share.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572000"/>
            <a:ext cx="37490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Label clearly until multi-brand production feed; use as directional only.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212080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34924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1E1E1E"/>
                </a:solidFill>
                <a:latin typeface="Arial"/>
              </a:rPr>
              <a:t>Insight without 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539496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757575"/>
                </a:solidFill>
                <a:latin typeface="Arial"/>
              </a:rPr>
              <a:t>Med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303520"/>
            <a:ext cx="3291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Dashboards unused → no service or brand change.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303520"/>
            <a:ext cx="37490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Weekly owner cadence; escalate top-3 risks to Head forum.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HSBC Hong Kong Commercial Banking  ·  Social Listening Strategy  ·  Confidential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1E1E"/>
                </a:solidFill>
                <a:latin typeface="Arial"/>
              </a:rPr>
              <a:t>Ask /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</a:rPr>
              <a:t>请求与下一步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188720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353312"/>
            <a:ext cx="10149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Endorse cleaned Net Voice as the management KPI standard (hide 中介 / personal noise by default).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6596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75688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1965960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130552"/>
            <a:ext cx="10149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Approve vendor RFI / 2-week PoC with 千瓜 and 新红 (dual-source noise comparison).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4320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52928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2743200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907792"/>
            <a:ext cx="10149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Assign operating owners: Listening analyst + BB / CMO / CTO delegates.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2044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30168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3520440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685032"/>
            <a:ext cx="10149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Confirm Legal &amp; Privacy review gate before any production social-data contract.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29768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07408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4297680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462272"/>
            <a:ext cx="10149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Pilot weekly Head brief for 4 weeks using current dashboards + labelled data status.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DB0011"/>
                </a:solidFill>
                <a:latin typeface="Arial"/>
              </a:rPr>
              <a:t>Desired decision this session: proceed with Hybrid option (C) — stabilise PoC dashboards, launch vendor trial, and stand up the weekly operating cadence within 90 days.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HSBC Hong Kong Commercial Banking  ·  Social Listening Strategy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